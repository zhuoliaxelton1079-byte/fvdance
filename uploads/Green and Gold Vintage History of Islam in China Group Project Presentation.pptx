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sap Condensed Bold" charset="1" panose="020F0806030202060203"/>
      <p:regular r:id="rId16"/>
    </p:embeddedFont>
    <p:embeddedFont>
      <p:font typeface="Asap" charset="1" panose="020F0504030202060203"/>
      <p:regular r:id="rId17"/>
    </p:embeddedFont>
    <p:embeddedFont>
      <p:font typeface="Asap Bold" charset="1" panose="020F08040302020602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jpe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0.png" Type="http://schemas.openxmlformats.org/officeDocument/2006/relationships/image"/><Relationship Id="rId17" Target="../media/image2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2.jpeg" Type="http://schemas.openxmlformats.org/officeDocument/2006/relationships/image"/><Relationship Id="rId17" Target="../media/image23.png" Type="http://schemas.openxmlformats.org/officeDocument/2006/relationships/image"/><Relationship Id="rId18" Target="../media/image2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5.png" Type="http://schemas.openxmlformats.org/officeDocument/2006/relationships/image"/><Relationship Id="rId17"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4074230" y="8594988"/>
            <a:ext cx="11955093" cy="4259002"/>
          </a:xfrm>
          <a:custGeom>
            <a:avLst/>
            <a:gdLst/>
            <a:ahLst/>
            <a:cxnLst/>
            <a:rect r="r" b="b" t="t" l="l"/>
            <a:pathLst>
              <a:path h="4259002" w="11955093">
                <a:moveTo>
                  <a:pt x="0" y="0"/>
                </a:moveTo>
                <a:lnTo>
                  <a:pt x="11955093" y="0"/>
                </a:lnTo>
                <a:lnTo>
                  <a:pt x="11955093" y="4259002"/>
                </a:lnTo>
                <a:lnTo>
                  <a:pt x="0" y="4259002"/>
                </a:lnTo>
                <a:lnTo>
                  <a:pt x="0" y="0"/>
                </a:lnTo>
                <a:close/>
              </a:path>
            </a:pathLst>
          </a:custGeom>
          <a:blipFill>
            <a:blip r:embed="rId4"/>
            <a:stretch>
              <a:fillRect l="0" t="0" r="0" b="0"/>
            </a:stretch>
          </a:blipFill>
        </p:spPr>
      </p:sp>
      <p:sp>
        <p:nvSpPr>
          <p:cNvPr name="Freeform 4" id="4"/>
          <p:cNvSpPr/>
          <p:nvPr/>
        </p:nvSpPr>
        <p:spPr>
          <a:xfrm flipH="false" flipV="false" rot="0">
            <a:off x="-271942" y="-1707152"/>
            <a:ext cx="11955093" cy="4259002"/>
          </a:xfrm>
          <a:custGeom>
            <a:avLst/>
            <a:gdLst/>
            <a:ahLst/>
            <a:cxnLst/>
            <a:rect r="r" b="b" t="t" l="l"/>
            <a:pathLst>
              <a:path h="4259002" w="11955093">
                <a:moveTo>
                  <a:pt x="0" y="0"/>
                </a:moveTo>
                <a:lnTo>
                  <a:pt x="11955092" y="0"/>
                </a:lnTo>
                <a:lnTo>
                  <a:pt x="11955092" y="4259001"/>
                </a:lnTo>
                <a:lnTo>
                  <a:pt x="0" y="4259001"/>
                </a:lnTo>
                <a:lnTo>
                  <a:pt x="0" y="0"/>
                </a:lnTo>
                <a:close/>
              </a:path>
            </a:pathLst>
          </a:custGeom>
          <a:blipFill>
            <a:blip r:embed="rId4"/>
            <a:stretch>
              <a:fillRect l="0" t="0" r="0" b="0"/>
            </a:stretch>
          </a:blipFill>
        </p:spPr>
      </p:sp>
      <p:sp>
        <p:nvSpPr>
          <p:cNvPr name="Freeform 5" id="5"/>
          <p:cNvSpPr/>
          <p:nvPr/>
        </p:nvSpPr>
        <p:spPr>
          <a:xfrm flipH="false" flipV="false" rot="0">
            <a:off x="587230" y="3181400"/>
            <a:ext cx="1447264" cy="2782453"/>
          </a:xfrm>
          <a:custGeom>
            <a:avLst/>
            <a:gdLst/>
            <a:ahLst/>
            <a:cxnLst/>
            <a:rect r="r" b="b" t="t" l="l"/>
            <a:pathLst>
              <a:path h="2782453" w="1447264">
                <a:moveTo>
                  <a:pt x="0" y="0"/>
                </a:moveTo>
                <a:lnTo>
                  <a:pt x="1447264" y="0"/>
                </a:lnTo>
                <a:lnTo>
                  <a:pt x="1447264" y="2782454"/>
                </a:lnTo>
                <a:lnTo>
                  <a:pt x="0" y="2782454"/>
                </a:lnTo>
                <a:lnTo>
                  <a:pt x="0" y="0"/>
                </a:lnTo>
                <a:close/>
              </a:path>
            </a:pathLst>
          </a:custGeom>
          <a:blipFill>
            <a:blip r:embed="rId5"/>
            <a:stretch>
              <a:fillRect l="-57599" t="-6876" r="0" b="0"/>
            </a:stretch>
          </a:blipFill>
        </p:spPr>
      </p:sp>
      <p:sp>
        <p:nvSpPr>
          <p:cNvPr name="Freeform 6" id="6"/>
          <p:cNvSpPr/>
          <p:nvPr/>
        </p:nvSpPr>
        <p:spPr>
          <a:xfrm flipH="false" flipV="false" rot="0">
            <a:off x="-4161626" y="-3989956"/>
            <a:ext cx="8323252" cy="8313102"/>
          </a:xfrm>
          <a:custGeom>
            <a:avLst/>
            <a:gdLst/>
            <a:ahLst/>
            <a:cxnLst/>
            <a:rect r="r" b="b" t="t" l="l"/>
            <a:pathLst>
              <a:path h="8313102" w="8323252">
                <a:moveTo>
                  <a:pt x="0" y="0"/>
                </a:moveTo>
                <a:lnTo>
                  <a:pt x="8323252" y="0"/>
                </a:lnTo>
                <a:lnTo>
                  <a:pt x="8323252" y="8313102"/>
                </a:lnTo>
                <a:lnTo>
                  <a:pt x="0" y="83131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529205">
            <a:off x="-1470170" y="-158179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0800000">
            <a:off x="14126374" y="5963854"/>
            <a:ext cx="8323252" cy="8313102"/>
          </a:xfrm>
          <a:custGeom>
            <a:avLst/>
            <a:gdLst/>
            <a:ahLst/>
            <a:cxnLst/>
            <a:rect r="r" b="b" t="t" l="l"/>
            <a:pathLst>
              <a:path h="8313102" w="8323252">
                <a:moveTo>
                  <a:pt x="0" y="0"/>
                </a:moveTo>
                <a:lnTo>
                  <a:pt x="8323252" y="0"/>
                </a:lnTo>
                <a:lnTo>
                  <a:pt x="8323252" y="8313102"/>
                </a:lnTo>
                <a:lnTo>
                  <a:pt x="0" y="83131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5643370" y="775399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180801" y="2551849"/>
            <a:ext cx="11926399" cy="5564387"/>
          </a:xfrm>
          <a:custGeom>
            <a:avLst/>
            <a:gdLst/>
            <a:ahLst/>
            <a:cxnLst/>
            <a:rect r="r" b="b" t="t" l="l"/>
            <a:pathLst>
              <a:path h="5564387" w="11926399">
                <a:moveTo>
                  <a:pt x="0" y="0"/>
                </a:moveTo>
                <a:lnTo>
                  <a:pt x="11926398" y="0"/>
                </a:lnTo>
                <a:lnTo>
                  <a:pt x="11926398" y="5564387"/>
                </a:lnTo>
                <a:lnTo>
                  <a:pt x="0" y="55643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4581396" y="166595"/>
            <a:ext cx="3978547" cy="3674730"/>
          </a:xfrm>
          <a:custGeom>
            <a:avLst/>
            <a:gdLst/>
            <a:ahLst/>
            <a:cxnLst/>
            <a:rect r="r" b="b" t="t" l="l"/>
            <a:pathLst>
              <a:path h="3674730" w="3978547">
                <a:moveTo>
                  <a:pt x="0" y="0"/>
                </a:moveTo>
                <a:lnTo>
                  <a:pt x="3978546" y="0"/>
                </a:lnTo>
                <a:lnTo>
                  <a:pt x="3978546" y="3674731"/>
                </a:lnTo>
                <a:lnTo>
                  <a:pt x="0" y="367473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true" flipV="false" rot="0">
            <a:off x="12589478" y="2448980"/>
            <a:ext cx="6879691" cy="2534102"/>
          </a:xfrm>
          <a:custGeom>
            <a:avLst/>
            <a:gdLst/>
            <a:ahLst/>
            <a:cxnLst/>
            <a:rect r="r" b="b" t="t" l="l"/>
            <a:pathLst>
              <a:path h="2534102" w="6879691">
                <a:moveTo>
                  <a:pt x="6879690" y="0"/>
                </a:moveTo>
                <a:lnTo>
                  <a:pt x="0" y="0"/>
                </a:lnTo>
                <a:lnTo>
                  <a:pt x="0" y="2534102"/>
                </a:lnTo>
                <a:lnTo>
                  <a:pt x="6879690" y="2534102"/>
                </a:lnTo>
                <a:lnTo>
                  <a:pt x="687969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752125" y="5545657"/>
            <a:ext cx="6358905" cy="2342273"/>
          </a:xfrm>
          <a:custGeom>
            <a:avLst/>
            <a:gdLst/>
            <a:ahLst/>
            <a:cxnLst/>
            <a:rect r="r" b="b" t="t" l="l"/>
            <a:pathLst>
              <a:path h="2342273" w="6358905">
                <a:moveTo>
                  <a:pt x="0" y="0"/>
                </a:moveTo>
                <a:lnTo>
                  <a:pt x="6358905" y="0"/>
                </a:lnTo>
                <a:lnTo>
                  <a:pt x="6358905" y="2342273"/>
                </a:lnTo>
                <a:lnTo>
                  <a:pt x="0" y="234227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true" flipV="false" rot="0">
            <a:off x="-271942" y="7679041"/>
            <a:ext cx="3978547" cy="3674730"/>
          </a:xfrm>
          <a:custGeom>
            <a:avLst/>
            <a:gdLst/>
            <a:ahLst/>
            <a:cxnLst/>
            <a:rect r="r" b="b" t="t" l="l"/>
            <a:pathLst>
              <a:path h="3674730" w="3978547">
                <a:moveTo>
                  <a:pt x="3978546" y="0"/>
                </a:moveTo>
                <a:lnTo>
                  <a:pt x="0" y="0"/>
                </a:lnTo>
                <a:lnTo>
                  <a:pt x="0" y="3674730"/>
                </a:lnTo>
                <a:lnTo>
                  <a:pt x="3978546" y="3674730"/>
                </a:lnTo>
                <a:lnTo>
                  <a:pt x="397854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960011" y="4619678"/>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4490295" y="3960289"/>
            <a:ext cx="9307410" cy="1826512"/>
          </a:xfrm>
          <a:prstGeom prst="rect">
            <a:avLst/>
          </a:prstGeom>
        </p:spPr>
        <p:txBody>
          <a:bodyPr anchor="t" rtlCol="false" tIns="0" lIns="0" bIns="0" rIns="0">
            <a:spAutoFit/>
          </a:bodyPr>
          <a:lstStyle/>
          <a:p>
            <a:pPr algn="ctr">
              <a:lnSpc>
                <a:spcPts val="14826"/>
              </a:lnSpc>
            </a:pPr>
            <a:r>
              <a:rPr lang="en-US" b="true" sz="10590">
                <a:solidFill>
                  <a:srgbClr val="256158"/>
                </a:solidFill>
                <a:latin typeface="Asap Condensed Bold"/>
                <a:ea typeface="Asap Condensed Bold"/>
                <a:cs typeface="Asap Condensed Bold"/>
                <a:sym typeface="Asap Condensed Bold"/>
              </a:rPr>
              <a:t>GROUP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008993" y="166595"/>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598865" y="1782352"/>
            <a:ext cx="4870304" cy="1793954"/>
          </a:xfrm>
          <a:custGeom>
            <a:avLst/>
            <a:gdLst/>
            <a:ahLst/>
            <a:cxnLst/>
            <a:rect r="r" b="b" t="t" l="l"/>
            <a:pathLst>
              <a:path h="1793954" w="4870304">
                <a:moveTo>
                  <a:pt x="4870303" y="0"/>
                </a:moveTo>
                <a:lnTo>
                  <a:pt x="0" y="0"/>
                </a:lnTo>
                <a:lnTo>
                  <a:pt x="0" y="1793954"/>
                </a:lnTo>
                <a:lnTo>
                  <a:pt x="4870303" y="1793954"/>
                </a:lnTo>
                <a:lnTo>
                  <a:pt x="487030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4524210" y="1773809"/>
            <a:ext cx="9239580" cy="1635125"/>
          </a:xfrm>
          <a:prstGeom prst="rect">
            <a:avLst/>
          </a:prstGeom>
        </p:spPr>
        <p:txBody>
          <a:bodyPr anchor="t" rtlCol="false" tIns="0" lIns="0" bIns="0" rIns="0">
            <a:spAutoFit/>
          </a:bodyPr>
          <a:lstStyle/>
          <a:p>
            <a:pPr algn="ctr">
              <a:lnSpc>
                <a:spcPts val="13300"/>
              </a:lnSpc>
            </a:pPr>
            <a:r>
              <a:rPr lang="en-US" b="true" sz="9500">
                <a:solidFill>
                  <a:srgbClr val="FFFFFF"/>
                </a:solidFill>
                <a:latin typeface="Asap Condensed Bold"/>
                <a:ea typeface="Asap Condensed Bold"/>
                <a:cs typeface="Asap Condensed Bold"/>
                <a:sym typeface="Asap Condensed Bold"/>
              </a:rPr>
              <a:t>Introduction</a:t>
            </a:r>
          </a:p>
        </p:txBody>
      </p:sp>
      <p:sp>
        <p:nvSpPr>
          <p:cNvPr name="Freeform 15" id="15"/>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6" id="16"/>
          <p:cNvSpPr txBox="true"/>
          <p:nvPr/>
        </p:nvSpPr>
        <p:spPr>
          <a:xfrm rot="0">
            <a:off x="3043719" y="4047304"/>
            <a:ext cx="12200562" cy="3462655"/>
          </a:xfrm>
          <a:prstGeom prst="rect">
            <a:avLst/>
          </a:prstGeom>
        </p:spPr>
        <p:txBody>
          <a:bodyPr anchor="t" rtlCol="false" tIns="0" lIns="0" bIns="0" rIns="0">
            <a:spAutoFit/>
          </a:bodyPr>
          <a:lstStyle/>
          <a:p>
            <a:pPr algn="ctr">
              <a:lnSpc>
                <a:spcPts val="3919"/>
              </a:lnSpc>
            </a:pPr>
            <a:r>
              <a:rPr lang="en-US" sz="2799">
                <a:solidFill>
                  <a:srgbClr val="FFFFFF"/>
                </a:solidFill>
                <a:latin typeface="Asap"/>
                <a:ea typeface="Asap"/>
                <a:cs typeface="Asap"/>
                <a:sym typeface="Asap"/>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a:t>
            </a:r>
            <a:r>
              <a:rPr lang="en-US" sz="2799">
                <a:solidFill>
                  <a:srgbClr val="FFFFFF"/>
                </a:solidFill>
                <a:latin typeface="Asap"/>
                <a:ea typeface="Asap"/>
                <a:cs typeface="Asap"/>
                <a:sym typeface="Asap"/>
              </a:rPr>
              <a:t>s ligula bibendum. Etiam et elit nulla. Vivamus vehicula arcu quis erat imperdiet, sit amet mollis est efficitur.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34276" y="-424169"/>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824148" y="1191588"/>
            <a:ext cx="4870304" cy="1793954"/>
          </a:xfrm>
          <a:custGeom>
            <a:avLst/>
            <a:gdLst/>
            <a:ahLst/>
            <a:cxnLst/>
            <a:rect r="r" b="b" t="t" l="l"/>
            <a:pathLst>
              <a:path h="1793954" w="4870304">
                <a:moveTo>
                  <a:pt x="4870304" y="0"/>
                </a:moveTo>
                <a:lnTo>
                  <a:pt x="0" y="0"/>
                </a:lnTo>
                <a:lnTo>
                  <a:pt x="0" y="1793954"/>
                </a:lnTo>
                <a:lnTo>
                  <a:pt x="4870304" y="1793954"/>
                </a:lnTo>
                <a:lnTo>
                  <a:pt x="48703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3124356" y="1773809"/>
            <a:ext cx="12039287" cy="1635125"/>
          </a:xfrm>
          <a:prstGeom prst="rect">
            <a:avLst/>
          </a:prstGeom>
        </p:spPr>
        <p:txBody>
          <a:bodyPr anchor="t" rtlCol="false" tIns="0" lIns="0" bIns="0" rIns="0">
            <a:spAutoFit/>
          </a:bodyPr>
          <a:lstStyle/>
          <a:p>
            <a:pPr algn="ctr" marL="0" indent="0" lvl="0">
              <a:lnSpc>
                <a:spcPts val="13300"/>
              </a:lnSpc>
              <a:spcBef>
                <a:spcPct val="0"/>
              </a:spcBef>
            </a:pPr>
            <a:r>
              <a:rPr lang="en-US" b="true" sz="9500" strike="noStrike" u="none">
                <a:solidFill>
                  <a:srgbClr val="FFFFFF"/>
                </a:solidFill>
                <a:latin typeface="Asap Condensed Bold"/>
                <a:ea typeface="Asap Condensed Bold"/>
                <a:cs typeface="Asap Condensed Bold"/>
                <a:sym typeface="Asap Condensed Bold"/>
              </a:rPr>
              <a:t>Historical Background</a:t>
            </a:r>
          </a:p>
        </p:txBody>
      </p:sp>
      <p:grpSp>
        <p:nvGrpSpPr>
          <p:cNvPr name="Group 16" id="16"/>
          <p:cNvGrpSpPr/>
          <p:nvPr/>
        </p:nvGrpSpPr>
        <p:grpSpPr>
          <a:xfrm rot="0">
            <a:off x="3102205" y="4113979"/>
            <a:ext cx="4003570" cy="400357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24931" t="0" r="-24931" b="0"/>
              </a:stretch>
            </a:blipFill>
          </p:spPr>
        </p:sp>
      </p:grpSp>
      <p:sp>
        <p:nvSpPr>
          <p:cNvPr name="Freeform 18" id="18"/>
          <p:cNvSpPr/>
          <p:nvPr/>
        </p:nvSpPr>
        <p:spPr>
          <a:xfrm flipH="false" flipV="false" rot="0">
            <a:off x="2436374" y="3763115"/>
            <a:ext cx="5335232" cy="4977240"/>
          </a:xfrm>
          <a:custGeom>
            <a:avLst/>
            <a:gdLst/>
            <a:ahLst/>
            <a:cxnLst/>
            <a:rect r="r" b="b" t="t" l="l"/>
            <a:pathLst>
              <a:path h="4977240" w="5335232">
                <a:moveTo>
                  <a:pt x="0" y="0"/>
                </a:moveTo>
                <a:lnTo>
                  <a:pt x="5335231" y="0"/>
                </a:lnTo>
                <a:lnTo>
                  <a:pt x="5335231" y="4977240"/>
                </a:lnTo>
                <a:lnTo>
                  <a:pt x="0" y="497724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9" id="19"/>
          <p:cNvSpPr txBox="true"/>
          <p:nvPr/>
        </p:nvSpPr>
        <p:spPr>
          <a:xfrm rot="0">
            <a:off x="8382214" y="4047304"/>
            <a:ext cx="7469413" cy="3462655"/>
          </a:xfrm>
          <a:prstGeom prst="rect">
            <a:avLst/>
          </a:prstGeom>
        </p:spPr>
        <p:txBody>
          <a:bodyPr anchor="t" rtlCol="false" tIns="0" lIns="0" bIns="0" rIns="0">
            <a:spAutoFit/>
          </a:bodyPr>
          <a:lstStyle/>
          <a:p>
            <a:pPr algn="l">
              <a:lnSpc>
                <a:spcPts val="3919"/>
              </a:lnSpc>
            </a:pPr>
            <a:r>
              <a:rPr lang="en-US" sz="2799">
                <a:solidFill>
                  <a:srgbClr val="FFFFFF"/>
                </a:solidFill>
                <a:latin typeface="Asap"/>
                <a:ea typeface="Asap"/>
                <a:cs typeface="Asap"/>
                <a:sym typeface="Asap"/>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34276" y="-424169"/>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824148" y="1191588"/>
            <a:ext cx="4870304" cy="1793954"/>
          </a:xfrm>
          <a:custGeom>
            <a:avLst/>
            <a:gdLst/>
            <a:ahLst/>
            <a:cxnLst/>
            <a:rect r="r" b="b" t="t" l="l"/>
            <a:pathLst>
              <a:path h="1793954" w="4870304">
                <a:moveTo>
                  <a:pt x="4870304" y="0"/>
                </a:moveTo>
                <a:lnTo>
                  <a:pt x="0" y="0"/>
                </a:lnTo>
                <a:lnTo>
                  <a:pt x="0" y="1793954"/>
                </a:lnTo>
                <a:lnTo>
                  <a:pt x="4870304" y="1793954"/>
                </a:lnTo>
                <a:lnTo>
                  <a:pt x="48703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3124356" y="1773809"/>
            <a:ext cx="12039287" cy="1635125"/>
          </a:xfrm>
          <a:prstGeom prst="rect">
            <a:avLst/>
          </a:prstGeom>
        </p:spPr>
        <p:txBody>
          <a:bodyPr anchor="t" rtlCol="false" tIns="0" lIns="0" bIns="0" rIns="0">
            <a:spAutoFit/>
          </a:bodyPr>
          <a:lstStyle/>
          <a:p>
            <a:pPr algn="ctr" marL="0" indent="0" lvl="0">
              <a:lnSpc>
                <a:spcPts val="13300"/>
              </a:lnSpc>
              <a:spcBef>
                <a:spcPct val="0"/>
              </a:spcBef>
            </a:pPr>
            <a:r>
              <a:rPr lang="en-US" b="true" sz="9500" strike="noStrike" u="none">
                <a:solidFill>
                  <a:srgbClr val="FFFFFF"/>
                </a:solidFill>
                <a:latin typeface="Asap Condensed Bold"/>
                <a:ea typeface="Asap Condensed Bold"/>
                <a:cs typeface="Asap Condensed Bold"/>
                <a:sym typeface="Asap Condensed Bold"/>
              </a:rPr>
              <a:t>Early Arrival of Islam</a:t>
            </a:r>
          </a:p>
        </p:txBody>
      </p:sp>
      <p:sp>
        <p:nvSpPr>
          <p:cNvPr name="Freeform 16" id="16"/>
          <p:cNvSpPr/>
          <p:nvPr/>
        </p:nvSpPr>
        <p:spPr>
          <a:xfrm flipH="false" flipV="false" rot="0">
            <a:off x="7458283" y="4234779"/>
            <a:ext cx="3367941" cy="877873"/>
          </a:xfrm>
          <a:custGeom>
            <a:avLst/>
            <a:gdLst/>
            <a:ahLst/>
            <a:cxnLst/>
            <a:rect r="r" b="b" t="t" l="l"/>
            <a:pathLst>
              <a:path h="877873" w="3367941">
                <a:moveTo>
                  <a:pt x="0" y="0"/>
                </a:moveTo>
                <a:lnTo>
                  <a:pt x="3367941" y="0"/>
                </a:lnTo>
                <a:lnTo>
                  <a:pt x="3367941" y="877873"/>
                </a:lnTo>
                <a:lnTo>
                  <a:pt x="0" y="87787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7553768" y="4359666"/>
            <a:ext cx="3176972" cy="523875"/>
          </a:xfrm>
          <a:prstGeom prst="rect">
            <a:avLst/>
          </a:prstGeom>
        </p:spPr>
        <p:txBody>
          <a:bodyPr anchor="t" rtlCol="false" tIns="0" lIns="0" bIns="0" rIns="0">
            <a:spAutoFit/>
          </a:bodyPr>
          <a:lstStyle/>
          <a:p>
            <a:pPr algn="ctr">
              <a:lnSpc>
                <a:spcPts val="4200"/>
              </a:lnSpc>
            </a:pPr>
            <a:r>
              <a:rPr lang="en-US" sz="3000" b="true">
                <a:solidFill>
                  <a:srgbClr val="FFFFFF"/>
                </a:solidFill>
                <a:latin typeface="Asap Bold"/>
                <a:ea typeface="Asap Bold"/>
                <a:cs typeface="Asap Bold"/>
                <a:sym typeface="Asap Bold"/>
              </a:rPr>
              <a:t>701–800 CE</a:t>
            </a:r>
          </a:p>
        </p:txBody>
      </p:sp>
      <p:sp>
        <p:nvSpPr>
          <p:cNvPr name="TextBox 18" id="18"/>
          <p:cNvSpPr txBox="true"/>
          <p:nvPr/>
        </p:nvSpPr>
        <p:spPr>
          <a:xfrm rot="0">
            <a:off x="7077865" y="5263168"/>
            <a:ext cx="4128777" cy="2477253"/>
          </a:xfrm>
          <a:prstGeom prst="rect">
            <a:avLst/>
          </a:prstGeom>
        </p:spPr>
        <p:txBody>
          <a:bodyPr anchor="t" rtlCol="false" tIns="0" lIns="0" bIns="0" rIns="0">
            <a:spAutoFit/>
          </a:bodyPr>
          <a:lstStyle/>
          <a:p>
            <a:pPr algn="ctr">
              <a:lnSpc>
                <a:spcPts val="3270"/>
              </a:lnSpc>
            </a:pPr>
            <a:r>
              <a:rPr lang="en-US" sz="2336">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
        <p:nvSpPr>
          <p:cNvPr name="Freeform 19" id="19"/>
          <p:cNvSpPr/>
          <p:nvPr/>
        </p:nvSpPr>
        <p:spPr>
          <a:xfrm flipH="false" flipV="false" rot="0">
            <a:off x="12480608" y="4234779"/>
            <a:ext cx="3367941" cy="877873"/>
          </a:xfrm>
          <a:custGeom>
            <a:avLst/>
            <a:gdLst/>
            <a:ahLst/>
            <a:cxnLst/>
            <a:rect r="r" b="b" t="t" l="l"/>
            <a:pathLst>
              <a:path h="877873" w="3367941">
                <a:moveTo>
                  <a:pt x="0" y="0"/>
                </a:moveTo>
                <a:lnTo>
                  <a:pt x="3367941" y="0"/>
                </a:lnTo>
                <a:lnTo>
                  <a:pt x="3367941" y="877873"/>
                </a:lnTo>
                <a:lnTo>
                  <a:pt x="0" y="87787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0" id="20"/>
          <p:cNvSpPr txBox="true"/>
          <p:nvPr/>
        </p:nvSpPr>
        <p:spPr>
          <a:xfrm rot="0">
            <a:off x="12576093" y="4359666"/>
            <a:ext cx="3176972" cy="523875"/>
          </a:xfrm>
          <a:prstGeom prst="rect">
            <a:avLst/>
          </a:prstGeom>
        </p:spPr>
        <p:txBody>
          <a:bodyPr anchor="t" rtlCol="false" tIns="0" lIns="0" bIns="0" rIns="0">
            <a:spAutoFit/>
          </a:bodyPr>
          <a:lstStyle/>
          <a:p>
            <a:pPr algn="ctr">
              <a:lnSpc>
                <a:spcPts val="4200"/>
              </a:lnSpc>
            </a:pPr>
            <a:r>
              <a:rPr lang="en-US" sz="3000" b="true">
                <a:solidFill>
                  <a:srgbClr val="FFFFFF"/>
                </a:solidFill>
                <a:latin typeface="Asap Bold"/>
                <a:ea typeface="Asap Bold"/>
                <a:cs typeface="Asap Bold"/>
                <a:sym typeface="Asap Bold"/>
              </a:rPr>
              <a:t>901–1000 CE</a:t>
            </a:r>
          </a:p>
        </p:txBody>
      </p:sp>
      <p:sp>
        <p:nvSpPr>
          <p:cNvPr name="TextBox 21" id="21"/>
          <p:cNvSpPr txBox="true"/>
          <p:nvPr/>
        </p:nvSpPr>
        <p:spPr>
          <a:xfrm rot="0">
            <a:off x="12100190" y="5263168"/>
            <a:ext cx="4128777" cy="2477253"/>
          </a:xfrm>
          <a:prstGeom prst="rect">
            <a:avLst/>
          </a:prstGeom>
        </p:spPr>
        <p:txBody>
          <a:bodyPr anchor="t" rtlCol="false" tIns="0" lIns="0" bIns="0" rIns="0">
            <a:spAutoFit/>
          </a:bodyPr>
          <a:lstStyle/>
          <a:p>
            <a:pPr algn="ctr">
              <a:lnSpc>
                <a:spcPts val="3270"/>
              </a:lnSpc>
            </a:pPr>
            <a:r>
              <a:rPr lang="en-US" sz="2336">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
        <p:nvSpPr>
          <p:cNvPr name="Freeform 22" id="22"/>
          <p:cNvSpPr/>
          <p:nvPr/>
        </p:nvSpPr>
        <p:spPr>
          <a:xfrm flipH="false" flipV="false" rot="0">
            <a:off x="2439451" y="4233534"/>
            <a:ext cx="3367941" cy="877873"/>
          </a:xfrm>
          <a:custGeom>
            <a:avLst/>
            <a:gdLst/>
            <a:ahLst/>
            <a:cxnLst/>
            <a:rect r="r" b="b" t="t" l="l"/>
            <a:pathLst>
              <a:path h="877873" w="3367941">
                <a:moveTo>
                  <a:pt x="0" y="0"/>
                </a:moveTo>
                <a:lnTo>
                  <a:pt x="3367941" y="0"/>
                </a:lnTo>
                <a:lnTo>
                  <a:pt x="3367941" y="877873"/>
                </a:lnTo>
                <a:lnTo>
                  <a:pt x="0" y="87787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3" id="23"/>
          <p:cNvSpPr txBox="true"/>
          <p:nvPr/>
        </p:nvSpPr>
        <p:spPr>
          <a:xfrm rot="0">
            <a:off x="2534935" y="4358421"/>
            <a:ext cx="3176972" cy="523875"/>
          </a:xfrm>
          <a:prstGeom prst="rect">
            <a:avLst/>
          </a:prstGeom>
        </p:spPr>
        <p:txBody>
          <a:bodyPr anchor="t" rtlCol="false" tIns="0" lIns="0" bIns="0" rIns="0">
            <a:spAutoFit/>
          </a:bodyPr>
          <a:lstStyle/>
          <a:p>
            <a:pPr algn="ctr">
              <a:lnSpc>
                <a:spcPts val="4200"/>
              </a:lnSpc>
            </a:pPr>
            <a:r>
              <a:rPr lang="en-US" sz="3000" b="true">
                <a:solidFill>
                  <a:srgbClr val="FFFFFF"/>
                </a:solidFill>
                <a:latin typeface="Asap Bold"/>
                <a:ea typeface="Asap Bold"/>
                <a:cs typeface="Asap Bold"/>
                <a:sym typeface="Asap Bold"/>
              </a:rPr>
              <a:t>601–700 CE</a:t>
            </a:r>
          </a:p>
        </p:txBody>
      </p:sp>
      <p:sp>
        <p:nvSpPr>
          <p:cNvPr name="TextBox 24" id="24"/>
          <p:cNvSpPr txBox="true"/>
          <p:nvPr/>
        </p:nvSpPr>
        <p:spPr>
          <a:xfrm rot="0">
            <a:off x="2059033" y="5261923"/>
            <a:ext cx="4128777" cy="2477253"/>
          </a:xfrm>
          <a:prstGeom prst="rect">
            <a:avLst/>
          </a:prstGeom>
        </p:spPr>
        <p:txBody>
          <a:bodyPr anchor="t" rtlCol="false" tIns="0" lIns="0" bIns="0" rIns="0">
            <a:spAutoFit/>
          </a:bodyPr>
          <a:lstStyle/>
          <a:p>
            <a:pPr algn="ctr">
              <a:lnSpc>
                <a:spcPts val="3270"/>
              </a:lnSpc>
            </a:pPr>
            <a:r>
              <a:rPr lang="en-US" sz="2336">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34276" y="-424169"/>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824148" y="1191588"/>
            <a:ext cx="4870304" cy="1793954"/>
          </a:xfrm>
          <a:custGeom>
            <a:avLst/>
            <a:gdLst/>
            <a:ahLst/>
            <a:cxnLst/>
            <a:rect r="r" b="b" t="t" l="l"/>
            <a:pathLst>
              <a:path h="1793954" w="4870304">
                <a:moveTo>
                  <a:pt x="4870304" y="0"/>
                </a:moveTo>
                <a:lnTo>
                  <a:pt x="0" y="0"/>
                </a:lnTo>
                <a:lnTo>
                  <a:pt x="0" y="1793954"/>
                </a:lnTo>
                <a:lnTo>
                  <a:pt x="4870304" y="1793954"/>
                </a:lnTo>
                <a:lnTo>
                  <a:pt x="48703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11959389" y="4498722"/>
            <a:ext cx="3603070" cy="2774548"/>
            <a:chOff x="0" y="0"/>
            <a:chExt cx="558210" cy="429850"/>
          </a:xfrm>
        </p:grpSpPr>
        <p:sp>
          <p:nvSpPr>
            <p:cNvPr name="Freeform 16" id="16"/>
            <p:cNvSpPr/>
            <p:nvPr/>
          </p:nvSpPr>
          <p:spPr>
            <a:xfrm flipH="false" flipV="false" rot="0">
              <a:off x="0" y="0"/>
              <a:ext cx="558210" cy="429850"/>
            </a:xfrm>
            <a:custGeom>
              <a:avLst/>
              <a:gdLst/>
              <a:ahLst/>
              <a:cxnLst/>
              <a:rect r="r" b="b" t="t" l="l"/>
              <a:pathLst>
                <a:path h="429850" w="558210">
                  <a:moveTo>
                    <a:pt x="478792" y="0"/>
                  </a:moveTo>
                  <a:lnTo>
                    <a:pt x="79418" y="0"/>
                  </a:lnTo>
                  <a:cubicBezTo>
                    <a:pt x="79418" y="43699"/>
                    <a:pt x="44079" y="79418"/>
                    <a:pt x="0" y="79418"/>
                  </a:cubicBezTo>
                  <a:lnTo>
                    <a:pt x="0" y="350432"/>
                  </a:lnTo>
                  <a:cubicBezTo>
                    <a:pt x="43699" y="350432"/>
                    <a:pt x="79418" y="385771"/>
                    <a:pt x="79418" y="429850"/>
                  </a:cubicBezTo>
                  <a:lnTo>
                    <a:pt x="478792" y="429850"/>
                  </a:lnTo>
                  <a:cubicBezTo>
                    <a:pt x="478792" y="386151"/>
                    <a:pt x="514131" y="350432"/>
                    <a:pt x="558210" y="350432"/>
                  </a:cubicBezTo>
                  <a:lnTo>
                    <a:pt x="558210" y="79418"/>
                  </a:lnTo>
                  <a:cubicBezTo>
                    <a:pt x="514511" y="79418"/>
                    <a:pt x="478792" y="44079"/>
                    <a:pt x="478792" y="0"/>
                  </a:cubicBezTo>
                  <a:close/>
                </a:path>
              </a:pathLst>
            </a:custGeom>
            <a:blipFill>
              <a:blip r:embed="rId16"/>
              <a:stretch>
                <a:fillRect l="-7859" t="0" r="-7859" b="0"/>
              </a:stretch>
            </a:blipFill>
          </p:spPr>
        </p:sp>
      </p:grpSp>
      <p:sp>
        <p:nvSpPr>
          <p:cNvPr name="Freeform 17" id="17"/>
          <p:cNvSpPr/>
          <p:nvPr/>
        </p:nvSpPr>
        <p:spPr>
          <a:xfrm flipH="false" flipV="false" rot="0">
            <a:off x="11619874" y="3841326"/>
            <a:ext cx="4255443" cy="4255443"/>
          </a:xfrm>
          <a:custGeom>
            <a:avLst/>
            <a:gdLst/>
            <a:ahLst/>
            <a:cxnLst/>
            <a:rect r="r" b="b" t="t" l="l"/>
            <a:pathLst>
              <a:path h="4255443" w="4255443">
                <a:moveTo>
                  <a:pt x="0" y="0"/>
                </a:moveTo>
                <a:lnTo>
                  <a:pt x="4255443" y="0"/>
                </a:lnTo>
                <a:lnTo>
                  <a:pt x="4255443" y="4255442"/>
                </a:lnTo>
                <a:lnTo>
                  <a:pt x="0" y="42554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8" id="18"/>
          <p:cNvSpPr txBox="true"/>
          <p:nvPr/>
        </p:nvSpPr>
        <p:spPr>
          <a:xfrm rot="0">
            <a:off x="2412683" y="4108935"/>
            <a:ext cx="9053772" cy="346265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a:p>
            <a:pPr algn="l">
              <a:lnSpc>
                <a:spcPts val="3919"/>
              </a:lnSpc>
            </a:pPr>
          </a:p>
          <a:p>
            <a:pPr algn="l" marL="604519" indent="-302260" lvl="1">
              <a:lnSpc>
                <a:spcPts val="3919"/>
              </a:lnSpc>
              <a:buFont typeface="Arial"/>
              <a:buChar char="•"/>
            </a:pPr>
            <a:r>
              <a:rPr lang="en-US" sz="2799">
                <a:solidFill>
                  <a:srgbClr val="FFFFFF"/>
                </a:solidFill>
                <a:latin typeface="Asap"/>
                <a:ea typeface="Asap"/>
                <a:cs typeface="Asap"/>
                <a:sym typeface="Asap"/>
              </a:rPr>
              <a:t>Donec commodo euismod sapien, quis sagittis leo blandit eget. Mauris dictum viverra congue. Vestibulum maximus luctus nunc eget facilisis.</a:t>
            </a:r>
          </a:p>
        </p:txBody>
      </p:sp>
      <p:sp>
        <p:nvSpPr>
          <p:cNvPr name="TextBox 19" id="19"/>
          <p:cNvSpPr txBox="true"/>
          <p:nvPr/>
        </p:nvSpPr>
        <p:spPr>
          <a:xfrm rot="0">
            <a:off x="3124356" y="1773809"/>
            <a:ext cx="12039287" cy="1635125"/>
          </a:xfrm>
          <a:prstGeom prst="rect">
            <a:avLst/>
          </a:prstGeom>
        </p:spPr>
        <p:txBody>
          <a:bodyPr anchor="t" rtlCol="false" tIns="0" lIns="0" bIns="0" rIns="0">
            <a:spAutoFit/>
          </a:bodyPr>
          <a:lstStyle/>
          <a:p>
            <a:pPr algn="ctr" marL="0" indent="0" lvl="0">
              <a:lnSpc>
                <a:spcPts val="13300"/>
              </a:lnSpc>
              <a:spcBef>
                <a:spcPct val="0"/>
              </a:spcBef>
            </a:pPr>
            <a:r>
              <a:rPr lang="en-US" b="true" sz="9500" strike="noStrike" u="none">
                <a:solidFill>
                  <a:srgbClr val="FFFFFF"/>
                </a:solidFill>
                <a:latin typeface="Asap Condensed Bold"/>
                <a:ea typeface="Asap Condensed Bold"/>
                <a:cs typeface="Asap Condensed Bold"/>
                <a:sym typeface="Asap Condensed Bold"/>
              </a:rPr>
              <a:t>Cultural Integration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34276" y="-424169"/>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824148" y="1191588"/>
            <a:ext cx="4870304" cy="1793954"/>
          </a:xfrm>
          <a:custGeom>
            <a:avLst/>
            <a:gdLst/>
            <a:ahLst/>
            <a:cxnLst/>
            <a:rect r="r" b="b" t="t" l="l"/>
            <a:pathLst>
              <a:path h="1793954" w="4870304">
                <a:moveTo>
                  <a:pt x="4870304" y="0"/>
                </a:moveTo>
                <a:lnTo>
                  <a:pt x="0" y="0"/>
                </a:lnTo>
                <a:lnTo>
                  <a:pt x="0" y="1793954"/>
                </a:lnTo>
                <a:lnTo>
                  <a:pt x="4870304" y="1793954"/>
                </a:lnTo>
                <a:lnTo>
                  <a:pt x="48703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3124356" y="1429448"/>
            <a:ext cx="12039287" cy="2614295"/>
          </a:xfrm>
          <a:prstGeom prst="rect">
            <a:avLst/>
          </a:prstGeom>
        </p:spPr>
        <p:txBody>
          <a:bodyPr anchor="t" rtlCol="false" tIns="0" lIns="0" bIns="0" rIns="0">
            <a:spAutoFit/>
          </a:bodyPr>
          <a:lstStyle/>
          <a:p>
            <a:pPr algn="ctr" marL="0" indent="0" lvl="0">
              <a:lnSpc>
                <a:spcPts val="10165"/>
              </a:lnSpc>
            </a:pPr>
            <a:r>
              <a:rPr lang="en-US" b="true" sz="9500" strike="noStrike" u="none">
                <a:solidFill>
                  <a:srgbClr val="FFFFFF"/>
                </a:solidFill>
                <a:latin typeface="Asap Condensed Bold"/>
                <a:ea typeface="Asap Condensed Bold"/>
                <a:cs typeface="Asap Condensed Bold"/>
                <a:sym typeface="Asap Condensed Bold"/>
              </a:rPr>
              <a:t>Development During Major Dynasties</a:t>
            </a:r>
          </a:p>
        </p:txBody>
      </p:sp>
      <p:sp>
        <p:nvSpPr>
          <p:cNvPr name="Freeform 16" id="16"/>
          <p:cNvSpPr/>
          <p:nvPr/>
        </p:nvSpPr>
        <p:spPr>
          <a:xfrm flipH="false" flipV="false" rot="0">
            <a:off x="2187820" y="4233534"/>
            <a:ext cx="6577043" cy="4114800"/>
          </a:xfrm>
          <a:custGeom>
            <a:avLst/>
            <a:gdLst/>
            <a:ahLst/>
            <a:cxnLst/>
            <a:rect r="r" b="b" t="t" l="l"/>
            <a:pathLst>
              <a:path h="4114800" w="6577043">
                <a:moveTo>
                  <a:pt x="0" y="0"/>
                </a:moveTo>
                <a:lnTo>
                  <a:pt x="6577044" y="0"/>
                </a:lnTo>
                <a:lnTo>
                  <a:pt x="6577044"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3085320" y="5138072"/>
            <a:ext cx="4782044" cy="2064013"/>
          </a:xfrm>
          <a:prstGeom prst="rect">
            <a:avLst/>
          </a:prstGeom>
        </p:spPr>
        <p:txBody>
          <a:bodyPr anchor="t" rtlCol="false" tIns="0" lIns="0" bIns="0" rIns="0">
            <a:spAutoFit/>
          </a:bodyPr>
          <a:lstStyle/>
          <a:p>
            <a:pPr algn="ctr">
              <a:lnSpc>
                <a:spcPts val="3270"/>
              </a:lnSpc>
            </a:pPr>
            <a:r>
              <a:rPr lang="en-US" sz="2336">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
        <p:nvSpPr>
          <p:cNvPr name="Freeform 18" id="18"/>
          <p:cNvSpPr/>
          <p:nvPr/>
        </p:nvSpPr>
        <p:spPr>
          <a:xfrm flipH="false" flipV="false" rot="0">
            <a:off x="9523136" y="4233534"/>
            <a:ext cx="6577043" cy="4114800"/>
          </a:xfrm>
          <a:custGeom>
            <a:avLst/>
            <a:gdLst/>
            <a:ahLst/>
            <a:cxnLst/>
            <a:rect r="r" b="b" t="t" l="l"/>
            <a:pathLst>
              <a:path h="4114800" w="6577043">
                <a:moveTo>
                  <a:pt x="0" y="0"/>
                </a:moveTo>
                <a:lnTo>
                  <a:pt x="6577044" y="0"/>
                </a:lnTo>
                <a:lnTo>
                  <a:pt x="6577044"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9" id="19"/>
          <p:cNvSpPr txBox="true"/>
          <p:nvPr/>
        </p:nvSpPr>
        <p:spPr>
          <a:xfrm rot="0">
            <a:off x="10420636" y="5138072"/>
            <a:ext cx="4782044" cy="2064013"/>
          </a:xfrm>
          <a:prstGeom prst="rect">
            <a:avLst/>
          </a:prstGeom>
        </p:spPr>
        <p:txBody>
          <a:bodyPr anchor="t" rtlCol="false" tIns="0" lIns="0" bIns="0" rIns="0">
            <a:spAutoFit/>
          </a:bodyPr>
          <a:lstStyle/>
          <a:p>
            <a:pPr algn="ctr">
              <a:lnSpc>
                <a:spcPts val="3270"/>
              </a:lnSpc>
            </a:pPr>
            <a:r>
              <a:rPr lang="en-US" sz="2336">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34276" y="-424169"/>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824148" y="1191588"/>
            <a:ext cx="4870304" cy="1793954"/>
          </a:xfrm>
          <a:custGeom>
            <a:avLst/>
            <a:gdLst/>
            <a:ahLst/>
            <a:cxnLst/>
            <a:rect r="r" b="b" t="t" l="l"/>
            <a:pathLst>
              <a:path h="1793954" w="4870304">
                <a:moveTo>
                  <a:pt x="4870304" y="0"/>
                </a:moveTo>
                <a:lnTo>
                  <a:pt x="0" y="0"/>
                </a:lnTo>
                <a:lnTo>
                  <a:pt x="0" y="1793954"/>
                </a:lnTo>
                <a:lnTo>
                  <a:pt x="4870304" y="1793954"/>
                </a:lnTo>
                <a:lnTo>
                  <a:pt x="48703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3124356" y="2078609"/>
            <a:ext cx="12039287" cy="2614295"/>
          </a:xfrm>
          <a:prstGeom prst="rect">
            <a:avLst/>
          </a:prstGeom>
        </p:spPr>
        <p:txBody>
          <a:bodyPr anchor="t" rtlCol="false" tIns="0" lIns="0" bIns="0" rIns="0">
            <a:spAutoFit/>
          </a:bodyPr>
          <a:lstStyle/>
          <a:p>
            <a:pPr algn="ctr" marL="0" indent="0" lvl="0">
              <a:lnSpc>
                <a:spcPts val="10165"/>
              </a:lnSpc>
              <a:spcBef>
                <a:spcPct val="0"/>
              </a:spcBef>
            </a:pPr>
            <a:r>
              <a:rPr lang="en-US" b="true" sz="9500" strike="noStrike" u="none">
                <a:solidFill>
                  <a:srgbClr val="FFFFFF"/>
                </a:solidFill>
                <a:latin typeface="Asap Condensed Bold"/>
                <a:ea typeface="Asap Condensed Bold"/>
                <a:cs typeface="Asap Condensed Bold"/>
                <a:sym typeface="Asap Condensed Bold"/>
              </a:rPr>
              <a:t>Social &amp; Economic Influence</a:t>
            </a:r>
          </a:p>
        </p:txBody>
      </p:sp>
      <p:sp>
        <p:nvSpPr>
          <p:cNvPr name="TextBox 16" id="16"/>
          <p:cNvSpPr txBox="true"/>
          <p:nvPr/>
        </p:nvSpPr>
        <p:spPr>
          <a:xfrm rot="0">
            <a:off x="6411572" y="4874414"/>
            <a:ext cx="9272893" cy="148145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
        <p:nvSpPr>
          <p:cNvPr name="TextBox 17" id="17"/>
          <p:cNvSpPr txBox="true"/>
          <p:nvPr/>
        </p:nvSpPr>
        <p:spPr>
          <a:xfrm rot="0">
            <a:off x="6411572" y="6572404"/>
            <a:ext cx="9272893" cy="148145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pic>
        <p:nvPicPr>
          <p:cNvPr name="Picture 18" id="18"/>
          <p:cNvPicPr>
            <a:picLocks noChangeAspect="true"/>
          </p:cNvPicPr>
          <p:nvPr/>
        </p:nvPicPr>
        <p:blipFill>
          <a:blip r:embed="rId16"/>
          <a:stretch>
            <a:fillRect/>
          </a:stretch>
        </p:blipFill>
        <p:spPr>
          <a:xfrm rot="0">
            <a:off x="2212928" y="4302298"/>
            <a:ext cx="4687288" cy="4190898"/>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34276" y="-424169"/>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824148" y="1191588"/>
            <a:ext cx="4870304" cy="1793954"/>
          </a:xfrm>
          <a:custGeom>
            <a:avLst/>
            <a:gdLst/>
            <a:ahLst/>
            <a:cxnLst/>
            <a:rect r="r" b="b" t="t" l="l"/>
            <a:pathLst>
              <a:path h="1793954" w="4870304">
                <a:moveTo>
                  <a:pt x="4870304" y="0"/>
                </a:moveTo>
                <a:lnTo>
                  <a:pt x="0" y="0"/>
                </a:lnTo>
                <a:lnTo>
                  <a:pt x="0" y="1793954"/>
                </a:lnTo>
                <a:lnTo>
                  <a:pt x="4870304" y="1793954"/>
                </a:lnTo>
                <a:lnTo>
                  <a:pt x="48703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3124356" y="2078609"/>
            <a:ext cx="12039287" cy="1328420"/>
          </a:xfrm>
          <a:prstGeom prst="rect">
            <a:avLst/>
          </a:prstGeom>
        </p:spPr>
        <p:txBody>
          <a:bodyPr anchor="t" rtlCol="false" tIns="0" lIns="0" bIns="0" rIns="0">
            <a:spAutoFit/>
          </a:bodyPr>
          <a:lstStyle/>
          <a:p>
            <a:pPr algn="ctr" marL="0" indent="0" lvl="0">
              <a:lnSpc>
                <a:spcPts val="10165"/>
              </a:lnSpc>
              <a:spcBef>
                <a:spcPct val="0"/>
              </a:spcBef>
            </a:pPr>
            <a:r>
              <a:rPr lang="en-US" b="true" sz="9500">
                <a:solidFill>
                  <a:srgbClr val="FFFFFF"/>
                </a:solidFill>
                <a:latin typeface="Asap Condensed Bold"/>
                <a:ea typeface="Asap Condensed Bold"/>
                <a:cs typeface="Asap Condensed Bold"/>
                <a:sym typeface="Asap Condensed Bold"/>
              </a:rPr>
              <a:t>Meth</a:t>
            </a:r>
            <a:r>
              <a:rPr lang="en-US" b="true" sz="9500" strike="noStrike" u="none">
                <a:solidFill>
                  <a:srgbClr val="FFFFFF"/>
                </a:solidFill>
                <a:latin typeface="Asap Condensed Bold"/>
                <a:ea typeface="Asap Condensed Bold"/>
                <a:cs typeface="Asap Condensed Bold"/>
                <a:sym typeface="Asap Condensed Bold"/>
              </a:rPr>
              <a:t>o</a:t>
            </a:r>
            <a:r>
              <a:rPr lang="en-US" b="true" sz="9500" strike="noStrike" u="none">
                <a:solidFill>
                  <a:srgbClr val="FFFFFF"/>
                </a:solidFill>
                <a:latin typeface="Asap Condensed Bold"/>
                <a:ea typeface="Asap Condensed Bold"/>
                <a:cs typeface="Asap Condensed Bold"/>
                <a:sym typeface="Asap Condensed Bold"/>
              </a:rPr>
              <a:t>d</a:t>
            </a:r>
            <a:r>
              <a:rPr lang="en-US" b="true" sz="9500" strike="noStrike" u="none">
                <a:solidFill>
                  <a:srgbClr val="FFFFFF"/>
                </a:solidFill>
                <a:latin typeface="Asap Condensed Bold"/>
                <a:ea typeface="Asap Condensed Bold"/>
                <a:cs typeface="Asap Condensed Bold"/>
                <a:sym typeface="Asap Condensed Bold"/>
              </a:rPr>
              <a:t>ol</a:t>
            </a:r>
            <a:r>
              <a:rPr lang="en-US" b="true" sz="9500" strike="noStrike" u="none">
                <a:solidFill>
                  <a:srgbClr val="FFFFFF"/>
                </a:solidFill>
                <a:latin typeface="Asap Condensed Bold"/>
                <a:ea typeface="Asap Condensed Bold"/>
                <a:cs typeface="Asap Condensed Bold"/>
                <a:sym typeface="Asap Condensed Bold"/>
              </a:rPr>
              <a:t>ogy</a:t>
            </a:r>
          </a:p>
        </p:txBody>
      </p:sp>
      <p:sp>
        <p:nvSpPr>
          <p:cNvPr name="TextBox 16" id="16"/>
          <p:cNvSpPr txBox="true"/>
          <p:nvPr/>
        </p:nvSpPr>
        <p:spPr>
          <a:xfrm rot="0">
            <a:off x="2152475" y="4176384"/>
            <a:ext cx="4298898" cy="3060700"/>
          </a:xfrm>
          <a:prstGeom prst="rect">
            <a:avLst/>
          </a:prstGeom>
        </p:spPr>
        <p:txBody>
          <a:bodyPr anchor="t" rtlCol="false" tIns="0" lIns="0" bIns="0" rIns="0">
            <a:spAutoFit/>
          </a:bodyPr>
          <a:lstStyle/>
          <a:p>
            <a:pPr algn="l" marL="539751" indent="-269876" lvl="1">
              <a:lnSpc>
                <a:spcPts val="3500"/>
              </a:lnSpc>
              <a:buFont typeface="Arial"/>
              <a:buChar char="•"/>
            </a:pPr>
            <a:r>
              <a:rPr lang="en-US" sz="2500">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
        <p:nvSpPr>
          <p:cNvPr name="TextBox 17" id="17"/>
          <p:cNvSpPr txBox="true"/>
          <p:nvPr/>
        </p:nvSpPr>
        <p:spPr>
          <a:xfrm rot="0">
            <a:off x="6994551" y="4176384"/>
            <a:ext cx="4298898" cy="3060700"/>
          </a:xfrm>
          <a:prstGeom prst="rect">
            <a:avLst/>
          </a:prstGeom>
        </p:spPr>
        <p:txBody>
          <a:bodyPr anchor="t" rtlCol="false" tIns="0" lIns="0" bIns="0" rIns="0">
            <a:spAutoFit/>
          </a:bodyPr>
          <a:lstStyle/>
          <a:p>
            <a:pPr algn="l" marL="539751" indent="-269876" lvl="1">
              <a:lnSpc>
                <a:spcPts val="3500"/>
              </a:lnSpc>
              <a:buFont typeface="Arial"/>
              <a:buChar char="•"/>
            </a:pPr>
            <a:r>
              <a:rPr lang="en-US" sz="2500">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
        <p:nvSpPr>
          <p:cNvPr name="TextBox 18" id="18"/>
          <p:cNvSpPr txBox="true"/>
          <p:nvPr/>
        </p:nvSpPr>
        <p:spPr>
          <a:xfrm rot="0">
            <a:off x="11836627" y="4176384"/>
            <a:ext cx="4298898" cy="3060700"/>
          </a:xfrm>
          <a:prstGeom prst="rect">
            <a:avLst/>
          </a:prstGeom>
        </p:spPr>
        <p:txBody>
          <a:bodyPr anchor="t" rtlCol="false" tIns="0" lIns="0" bIns="0" rIns="0">
            <a:spAutoFit/>
          </a:bodyPr>
          <a:lstStyle/>
          <a:p>
            <a:pPr algn="l" marL="539751" indent="-269876" lvl="1">
              <a:lnSpc>
                <a:spcPts val="3500"/>
              </a:lnSpc>
              <a:buFont typeface="Arial"/>
              <a:buChar char="•"/>
            </a:pPr>
            <a:r>
              <a:rPr lang="en-US" sz="2500">
                <a:solidFill>
                  <a:srgbClr val="FFFFFF"/>
                </a:solidFill>
                <a:latin typeface="Asap"/>
                <a:ea typeface="Asap"/>
                <a:cs typeface="Asap"/>
                <a:sym typeface="Asap"/>
              </a:rPr>
              <a:t>Lorem ipsum dolor sit amet, consectetur adipiscing elit. Nulla faucibus pretium nunc, ut accumsan leo tempus vel. Vivamus ultricies vitae felis eget ultricies.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276493" y="2450099"/>
            <a:ext cx="1447264" cy="2782453"/>
          </a:xfrm>
          <a:custGeom>
            <a:avLst/>
            <a:gdLst/>
            <a:ahLst/>
            <a:cxnLst/>
            <a:rect r="r" b="b" t="t" l="l"/>
            <a:pathLst>
              <a:path h="2782453" w="1447264">
                <a:moveTo>
                  <a:pt x="0" y="0"/>
                </a:moveTo>
                <a:lnTo>
                  <a:pt x="1447264" y="0"/>
                </a:lnTo>
                <a:lnTo>
                  <a:pt x="1447264" y="2782453"/>
                </a:lnTo>
                <a:lnTo>
                  <a:pt x="0" y="2782453"/>
                </a:lnTo>
                <a:lnTo>
                  <a:pt x="0" y="0"/>
                </a:lnTo>
                <a:close/>
              </a:path>
            </a:pathLst>
          </a:custGeom>
          <a:blipFill>
            <a:blip r:embed="rId4"/>
            <a:stretch>
              <a:fillRect l="-57599" t="-6876" r="0" b="0"/>
            </a:stretch>
          </a:blipFill>
        </p:spPr>
      </p:sp>
      <p:sp>
        <p:nvSpPr>
          <p:cNvPr name="Freeform 4" id="4"/>
          <p:cNvSpPr/>
          <p:nvPr/>
        </p:nvSpPr>
        <p:spPr>
          <a:xfrm flipH="false" flipV="false" rot="0">
            <a:off x="-332254" y="-1515574"/>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5" id="5"/>
          <p:cNvSpPr/>
          <p:nvPr/>
        </p:nvSpPr>
        <p:spPr>
          <a:xfrm flipH="false" flipV="false" rot="0">
            <a:off x="-3538783" y="-3397443"/>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29205">
            <a:off x="-1320034" y="-1412230"/>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800000">
            <a:off x="8764864" y="8291591"/>
            <a:ext cx="9855390" cy="3510983"/>
          </a:xfrm>
          <a:custGeom>
            <a:avLst/>
            <a:gdLst/>
            <a:ahLst/>
            <a:cxnLst/>
            <a:rect r="r" b="b" t="t" l="l"/>
            <a:pathLst>
              <a:path h="3510983" w="9855390">
                <a:moveTo>
                  <a:pt x="0" y="0"/>
                </a:moveTo>
                <a:lnTo>
                  <a:pt x="9855390" y="0"/>
                </a:lnTo>
                <a:lnTo>
                  <a:pt x="9855390" y="3510983"/>
                </a:lnTo>
                <a:lnTo>
                  <a:pt x="0" y="3510983"/>
                </a:lnTo>
                <a:lnTo>
                  <a:pt x="0" y="0"/>
                </a:lnTo>
                <a:close/>
              </a:path>
            </a:pathLst>
          </a:custGeom>
          <a:blipFill>
            <a:blip r:embed="rId5"/>
            <a:stretch>
              <a:fillRect l="0" t="0" r="0" b="0"/>
            </a:stretch>
          </a:blipFill>
        </p:spPr>
      </p:sp>
      <p:sp>
        <p:nvSpPr>
          <p:cNvPr name="Freeform 8" id="8"/>
          <p:cNvSpPr/>
          <p:nvPr/>
        </p:nvSpPr>
        <p:spPr>
          <a:xfrm flipH="false" flipV="false" rot="-10800000">
            <a:off x="14965364" y="6831392"/>
            <a:ext cx="6861419" cy="6853051"/>
          </a:xfrm>
          <a:custGeom>
            <a:avLst/>
            <a:gdLst/>
            <a:ahLst/>
            <a:cxnLst/>
            <a:rect r="r" b="b" t="t" l="l"/>
            <a:pathLst>
              <a:path h="6853051" w="6861419">
                <a:moveTo>
                  <a:pt x="0" y="0"/>
                </a:moveTo>
                <a:lnTo>
                  <a:pt x="6861419" y="0"/>
                </a:lnTo>
                <a:lnTo>
                  <a:pt x="6861419" y="6853051"/>
                </a:lnTo>
                <a:lnTo>
                  <a:pt x="0" y="6853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6215926" y="8307123"/>
            <a:ext cx="3392107" cy="3392107"/>
          </a:xfrm>
          <a:custGeom>
            <a:avLst/>
            <a:gdLst/>
            <a:ahLst/>
            <a:cxnLst/>
            <a:rect r="r" b="b" t="t" l="l"/>
            <a:pathLst>
              <a:path h="3392107" w="3392107">
                <a:moveTo>
                  <a:pt x="0" y="0"/>
                </a:moveTo>
                <a:lnTo>
                  <a:pt x="3392108" y="0"/>
                </a:lnTo>
                <a:lnTo>
                  <a:pt x="3392108" y="3392107"/>
                </a:lnTo>
                <a:lnTo>
                  <a:pt x="0" y="3392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34276" y="-424169"/>
            <a:ext cx="2816512" cy="2601433"/>
          </a:xfrm>
          <a:custGeom>
            <a:avLst/>
            <a:gdLst/>
            <a:ahLst/>
            <a:cxnLst/>
            <a:rect r="r" b="b" t="t" l="l"/>
            <a:pathLst>
              <a:path h="2601433" w="2816512">
                <a:moveTo>
                  <a:pt x="0" y="0"/>
                </a:moveTo>
                <a:lnTo>
                  <a:pt x="2816512" y="0"/>
                </a:lnTo>
                <a:lnTo>
                  <a:pt x="2816512" y="2601433"/>
                </a:lnTo>
                <a:lnTo>
                  <a:pt x="0" y="26014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4824148" y="1191588"/>
            <a:ext cx="4870304" cy="1793954"/>
          </a:xfrm>
          <a:custGeom>
            <a:avLst/>
            <a:gdLst/>
            <a:ahLst/>
            <a:cxnLst/>
            <a:rect r="r" b="b" t="t" l="l"/>
            <a:pathLst>
              <a:path h="1793954" w="4870304">
                <a:moveTo>
                  <a:pt x="4870304" y="0"/>
                </a:moveTo>
                <a:lnTo>
                  <a:pt x="0" y="0"/>
                </a:lnTo>
                <a:lnTo>
                  <a:pt x="0" y="1793954"/>
                </a:lnTo>
                <a:lnTo>
                  <a:pt x="4870304" y="1793954"/>
                </a:lnTo>
                <a:lnTo>
                  <a:pt x="48703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76493" y="8948234"/>
            <a:ext cx="4981497" cy="1834911"/>
          </a:xfrm>
          <a:custGeom>
            <a:avLst/>
            <a:gdLst/>
            <a:ahLst/>
            <a:cxnLst/>
            <a:rect r="r" b="b" t="t" l="l"/>
            <a:pathLst>
              <a:path h="1834911" w="4981497">
                <a:moveTo>
                  <a:pt x="0" y="0"/>
                </a:moveTo>
                <a:lnTo>
                  <a:pt x="4981497" y="0"/>
                </a:lnTo>
                <a:lnTo>
                  <a:pt x="4981497" y="1834912"/>
                </a:lnTo>
                <a:lnTo>
                  <a:pt x="0" y="18349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908335" y="8085794"/>
            <a:ext cx="3116750" cy="2878744"/>
          </a:xfrm>
          <a:custGeom>
            <a:avLst/>
            <a:gdLst/>
            <a:ahLst/>
            <a:cxnLst/>
            <a:rect r="r" b="b" t="t" l="l"/>
            <a:pathLst>
              <a:path h="2878744" w="3116750">
                <a:moveTo>
                  <a:pt x="3116750" y="0"/>
                </a:moveTo>
                <a:lnTo>
                  <a:pt x="0" y="0"/>
                </a:lnTo>
                <a:lnTo>
                  <a:pt x="0" y="2878744"/>
                </a:lnTo>
                <a:lnTo>
                  <a:pt x="3116750" y="2878744"/>
                </a:lnTo>
                <a:lnTo>
                  <a:pt x="311675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50040" y="3841326"/>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4524210" y="1773809"/>
            <a:ext cx="9239580" cy="1635125"/>
          </a:xfrm>
          <a:prstGeom prst="rect">
            <a:avLst/>
          </a:prstGeom>
        </p:spPr>
        <p:txBody>
          <a:bodyPr anchor="t" rtlCol="false" tIns="0" lIns="0" bIns="0" rIns="0">
            <a:spAutoFit/>
          </a:bodyPr>
          <a:lstStyle/>
          <a:p>
            <a:pPr algn="ctr">
              <a:lnSpc>
                <a:spcPts val="13300"/>
              </a:lnSpc>
            </a:pPr>
            <a:r>
              <a:rPr lang="en-US" sz="9500" b="true">
                <a:solidFill>
                  <a:srgbClr val="FFFFFF"/>
                </a:solidFill>
                <a:latin typeface="Asap Condensed Bold"/>
                <a:ea typeface="Asap Condensed Bold"/>
                <a:cs typeface="Asap Condensed Bold"/>
                <a:sym typeface="Asap Condensed Bold"/>
              </a:rPr>
              <a:t>Conclusion</a:t>
            </a:r>
          </a:p>
        </p:txBody>
      </p:sp>
      <p:sp>
        <p:nvSpPr>
          <p:cNvPr name="TextBox 16" id="16"/>
          <p:cNvSpPr txBox="true"/>
          <p:nvPr/>
        </p:nvSpPr>
        <p:spPr>
          <a:xfrm rot="0">
            <a:off x="3043719" y="3774651"/>
            <a:ext cx="12200562" cy="3957955"/>
          </a:xfrm>
          <a:prstGeom prst="rect">
            <a:avLst/>
          </a:prstGeom>
        </p:spPr>
        <p:txBody>
          <a:bodyPr anchor="t" rtlCol="false" tIns="0" lIns="0" bIns="0" rIns="0">
            <a:spAutoFit/>
          </a:bodyPr>
          <a:lstStyle/>
          <a:p>
            <a:pPr algn="ctr">
              <a:lnSpc>
                <a:spcPts val="3919"/>
              </a:lnSpc>
            </a:pPr>
            <a:r>
              <a:rPr lang="en-US" sz="2799">
                <a:solidFill>
                  <a:srgbClr val="FFFFFF"/>
                </a:solidFill>
                <a:latin typeface="Asap"/>
                <a:ea typeface="Asap"/>
                <a:cs typeface="Asap"/>
                <a:sym typeface="Asap"/>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a:t>
            </a:r>
          </a:p>
          <a:p>
            <a:pPr algn="ctr">
              <a:lnSpc>
                <a:spcPts val="3919"/>
              </a:lnSpc>
            </a:pPr>
          </a:p>
          <a:p>
            <a:pPr algn="ctr">
              <a:lnSpc>
                <a:spcPts val="3919"/>
              </a:lnSpc>
            </a:pPr>
            <a:r>
              <a:rPr lang="en-US" sz="2799">
                <a:solidFill>
                  <a:srgbClr val="FFFFFF"/>
                </a:solidFill>
                <a:latin typeface="Asap"/>
                <a:ea typeface="Asap"/>
                <a:cs typeface="Asap"/>
                <a:sym typeface="Asap"/>
              </a:rPr>
              <a:t>Nullam vestibulum pulvinar facilisis. Sed lacinia ipsum quis odio eleifend, eget luctu</a:t>
            </a:r>
            <a:r>
              <a:rPr lang="en-US" sz="2799">
                <a:solidFill>
                  <a:srgbClr val="FFFFFF"/>
                </a:solidFill>
                <a:latin typeface="Asap"/>
                <a:ea typeface="Asap"/>
                <a:cs typeface="Asap"/>
                <a:sym typeface="Asap"/>
              </a:rPr>
              <a:t>s ligula bibendum. Etiam et elit nulla. Vivamus vehicula arcu quis erat imperdiet, sit amet mollis est efficitur.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A543A"/>
        </a:solidFill>
      </p:bgPr>
    </p:bg>
    <p:spTree>
      <p:nvGrpSpPr>
        <p:cNvPr id="1" name=""/>
        <p:cNvGrpSpPr/>
        <p:nvPr/>
      </p:nvGrpSpPr>
      <p:grpSpPr>
        <a:xfrm>
          <a:off x="0" y="0"/>
          <a:ext cx="0" cy="0"/>
          <a:chOff x="0" y="0"/>
          <a:chExt cx="0" cy="0"/>
        </a:xfrm>
      </p:grpSpPr>
      <p:sp>
        <p:nvSpPr>
          <p:cNvPr name="Freeform 2" id="2"/>
          <p:cNvSpPr/>
          <p:nvPr/>
        </p:nvSpPr>
        <p:spPr>
          <a:xfrm flipH="false" flipV="false" rot="0">
            <a:off x="-271942" y="-108430"/>
            <a:ext cx="18831885" cy="10503860"/>
          </a:xfrm>
          <a:custGeom>
            <a:avLst/>
            <a:gdLst/>
            <a:ahLst/>
            <a:cxnLst/>
            <a:rect r="r" b="b" t="t" l="l"/>
            <a:pathLst>
              <a:path h="10503860" w="18831885">
                <a:moveTo>
                  <a:pt x="0" y="0"/>
                </a:moveTo>
                <a:lnTo>
                  <a:pt x="18831884" y="0"/>
                </a:lnTo>
                <a:lnTo>
                  <a:pt x="18831884" y="10503860"/>
                </a:lnTo>
                <a:lnTo>
                  <a:pt x="0" y="10503860"/>
                </a:lnTo>
                <a:lnTo>
                  <a:pt x="0" y="0"/>
                </a:lnTo>
                <a:close/>
              </a:path>
            </a:pathLst>
          </a:custGeom>
          <a:blipFill>
            <a:blip r:embed="rId2">
              <a:extLst>
                <a:ext uri="{96DAC541-7B7A-43D3-8B79-37D633B846F1}">
                  <asvg:svgBlip xmlns:asvg="http://schemas.microsoft.com/office/drawing/2016/SVG/main" r:embed="rId3"/>
                </a:ext>
              </a:extLst>
            </a:blip>
            <a:stretch>
              <a:fillRect l="0" t="0" r="0" b="-4841"/>
            </a:stretch>
          </a:blipFill>
        </p:spPr>
      </p:sp>
      <p:sp>
        <p:nvSpPr>
          <p:cNvPr name="Freeform 3" id="3"/>
          <p:cNvSpPr/>
          <p:nvPr/>
        </p:nvSpPr>
        <p:spPr>
          <a:xfrm flipH="false" flipV="false" rot="0">
            <a:off x="4074230" y="8594988"/>
            <a:ext cx="11955093" cy="4259002"/>
          </a:xfrm>
          <a:custGeom>
            <a:avLst/>
            <a:gdLst/>
            <a:ahLst/>
            <a:cxnLst/>
            <a:rect r="r" b="b" t="t" l="l"/>
            <a:pathLst>
              <a:path h="4259002" w="11955093">
                <a:moveTo>
                  <a:pt x="0" y="0"/>
                </a:moveTo>
                <a:lnTo>
                  <a:pt x="11955093" y="0"/>
                </a:lnTo>
                <a:lnTo>
                  <a:pt x="11955093" y="4259002"/>
                </a:lnTo>
                <a:lnTo>
                  <a:pt x="0" y="4259002"/>
                </a:lnTo>
                <a:lnTo>
                  <a:pt x="0" y="0"/>
                </a:lnTo>
                <a:close/>
              </a:path>
            </a:pathLst>
          </a:custGeom>
          <a:blipFill>
            <a:blip r:embed="rId4"/>
            <a:stretch>
              <a:fillRect l="0" t="0" r="0" b="0"/>
            </a:stretch>
          </a:blipFill>
        </p:spPr>
      </p:sp>
      <p:sp>
        <p:nvSpPr>
          <p:cNvPr name="Freeform 4" id="4"/>
          <p:cNvSpPr/>
          <p:nvPr/>
        </p:nvSpPr>
        <p:spPr>
          <a:xfrm flipH="false" flipV="false" rot="0">
            <a:off x="-271942" y="-1707152"/>
            <a:ext cx="11955093" cy="4259002"/>
          </a:xfrm>
          <a:custGeom>
            <a:avLst/>
            <a:gdLst/>
            <a:ahLst/>
            <a:cxnLst/>
            <a:rect r="r" b="b" t="t" l="l"/>
            <a:pathLst>
              <a:path h="4259002" w="11955093">
                <a:moveTo>
                  <a:pt x="0" y="0"/>
                </a:moveTo>
                <a:lnTo>
                  <a:pt x="11955092" y="0"/>
                </a:lnTo>
                <a:lnTo>
                  <a:pt x="11955092" y="4259001"/>
                </a:lnTo>
                <a:lnTo>
                  <a:pt x="0" y="4259001"/>
                </a:lnTo>
                <a:lnTo>
                  <a:pt x="0" y="0"/>
                </a:lnTo>
                <a:close/>
              </a:path>
            </a:pathLst>
          </a:custGeom>
          <a:blipFill>
            <a:blip r:embed="rId4"/>
            <a:stretch>
              <a:fillRect l="0" t="0" r="0" b="0"/>
            </a:stretch>
          </a:blipFill>
        </p:spPr>
      </p:sp>
      <p:sp>
        <p:nvSpPr>
          <p:cNvPr name="Freeform 5" id="5"/>
          <p:cNvSpPr/>
          <p:nvPr/>
        </p:nvSpPr>
        <p:spPr>
          <a:xfrm flipH="false" flipV="false" rot="0">
            <a:off x="587230" y="3181400"/>
            <a:ext cx="1447264" cy="2782453"/>
          </a:xfrm>
          <a:custGeom>
            <a:avLst/>
            <a:gdLst/>
            <a:ahLst/>
            <a:cxnLst/>
            <a:rect r="r" b="b" t="t" l="l"/>
            <a:pathLst>
              <a:path h="2782453" w="1447264">
                <a:moveTo>
                  <a:pt x="0" y="0"/>
                </a:moveTo>
                <a:lnTo>
                  <a:pt x="1447264" y="0"/>
                </a:lnTo>
                <a:lnTo>
                  <a:pt x="1447264" y="2782454"/>
                </a:lnTo>
                <a:lnTo>
                  <a:pt x="0" y="2782454"/>
                </a:lnTo>
                <a:lnTo>
                  <a:pt x="0" y="0"/>
                </a:lnTo>
                <a:close/>
              </a:path>
            </a:pathLst>
          </a:custGeom>
          <a:blipFill>
            <a:blip r:embed="rId5"/>
            <a:stretch>
              <a:fillRect l="-57599" t="-6876" r="0" b="0"/>
            </a:stretch>
          </a:blipFill>
        </p:spPr>
      </p:sp>
      <p:sp>
        <p:nvSpPr>
          <p:cNvPr name="Freeform 6" id="6"/>
          <p:cNvSpPr/>
          <p:nvPr/>
        </p:nvSpPr>
        <p:spPr>
          <a:xfrm flipH="false" flipV="false" rot="0">
            <a:off x="-4161626" y="-3989956"/>
            <a:ext cx="8323252" cy="8313102"/>
          </a:xfrm>
          <a:custGeom>
            <a:avLst/>
            <a:gdLst/>
            <a:ahLst/>
            <a:cxnLst/>
            <a:rect r="r" b="b" t="t" l="l"/>
            <a:pathLst>
              <a:path h="8313102" w="8323252">
                <a:moveTo>
                  <a:pt x="0" y="0"/>
                </a:moveTo>
                <a:lnTo>
                  <a:pt x="8323252" y="0"/>
                </a:lnTo>
                <a:lnTo>
                  <a:pt x="8323252" y="8313102"/>
                </a:lnTo>
                <a:lnTo>
                  <a:pt x="0" y="83131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529205">
            <a:off x="-1470170" y="-158179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0800000">
            <a:off x="14126374" y="5963854"/>
            <a:ext cx="8323252" cy="8313102"/>
          </a:xfrm>
          <a:custGeom>
            <a:avLst/>
            <a:gdLst/>
            <a:ahLst/>
            <a:cxnLst/>
            <a:rect r="r" b="b" t="t" l="l"/>
            <a:pathLst>
              <a:path h="8313102" w="8323252">
                <a:moveTo>
                  <a:pt x="0" y="0"/>
                </a:moveTo>
                <a:lnTo>
                  <a:pt x="8323252" y="0"/>
                </a:lnTo>
                <a:lnTo>
                  <a:pt x="8323252" y="8313102"/>
                </a:lnTo>
                <a:lnTo>
                  <a:pt x="0" y="83131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8270794">
            <a:off x="15643370" y="775399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180801" y="2551849"/>
            <a:ext cx="11926399" cy="5564387"/>
          </a:xfrm>
          <a:custGeom>
            <a:avLst/>
            <a:gdLst/>
            <a:ahLst/>
            <a:cxnLst/>
            <a:rect r="r" b="b" t="t" l="l"/>
            <a:pathLst>
              <a:path h="5564387" w="11926399">
                <a:moveTo>
                  <a:pt x="0" y="0"/>
                </a:moveTo>
                <a:lnTo>
                  <a:pt x="11926398" y="0"/>
                </a:lnTo>
                <a:lnTo>
                  <a:pt x="11926398" y="5564387"/>
                </a:lnTo>
                <a:lnTo>
                  <a:pt x="0" y="55643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4581396" y="166595"/>
            <a:ext cx="3978547" cy="3674730"/>
          </a:xfrm>
          <a:custGeom>
            <a:avLst/>
            <a:gdLst/>
            <a:ahLst/>
            <a:cxnLst/>
            <a:rect r="r" b="b" t="t" l="l"/>
            <a:pathLst>
              <a:path h="3674730" w="3978547">
                <a:moveTo>
                  <a:pt x="0" y="0"/>
                </a:moveTo>
                <a:lnTo>
                  <a:pt x="3978546" y="0"/>
                </a:lnTo>
                <a:lnTo>
                  <a:pt x="3978546" y="3674731"/>
                </a:lnTo>
                <a:lnTo>
                  <a:pt x="0" y="367473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true" flipV="false" rot="0">
            <a:off x="12589478" y="2448980"/>
            <a:ext cx="6879691" cy="2534102"/>
          </a:xfrm>
          <a:custGeom>
            <a:avLst/>
            <a:gdLst/>
            <a:ahLst/>
            <a:cxnLst/>
            <a:rect r="r" b="b" t="t" l="l"/>
            <a:pathLst>
              <a:path h="2534102" w="6879691">
                <a:moveTo>
                  <a:pt x="6879690" y="0"/>
                </a:moveTo>
                <a:lnTo>
                  <a:pt x="0" y="0"/>
                </a:lnTo>
                <a:lnTo>
                  <a:pt x="0" y="2534102"/>
                </a:lnTo>
                <a:lnTo>
                  <a:pt x="6879690" y="2534102"/>
                </a:lnTo>
                <a:lnTo>
                  <a:pt x="687969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752125" y="5545657"/>
            <a:ext cx="6358905" cy="2342273"/>
          </a:xfrm>
          <a:custGeom>
            <a:avLst/>
            <a:gdLst/>
            <a:ahLst/>
            <a:cxnLst/>
            <a:rect r="r" b="b" t="t" l="l"/>
            <a:pathLst>
              <a:path h="2342273" w="6358905">
                <a:moveTo>
                  <a:pt x="0" y="0"/>
                </a:moveTo>
                <a:lnTo>
                  <a:pt x="6358905" y="0"/>
                </a:lnTo>
                <a:lnTo>
                  <a:pt x="6358905" y="2342273"/>
                </a:lnTo>
                <a:lnTo>
                  <a:pt x="0" y="234227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true" flipV="false" rot="0">
            <a:off x="-271942" y="7679041"/>
            <a:ext cx="3978547" cy="3674730"/>
          </a:xfrm>
          <a:custGeom>
            <a:avLst/>
            <a:gdLst/>
            <a:ahLst/>
            <a:cxnLst/>
            <a:rect r="r" b="b" t="t" l="l"/>
            <a:pathLst>
              <a:path h="3674730" w="3978547">
                <a:moveTo>
                  <a:pt x="3978546" y="0"/>
                </a:moveTo>
                <a:lnTo>
                  <a:pt x="0" y="0"/>
                </a:lnTo>
                <a:lnTo>
                  <a:pt x="0" y="3674730"/>
                </a:lnTo>
                <a:lnTo>
                  <a:pt x="3978546" y="3674730"/>
                </a:lnTo>
                <a:lnTo>
                  <a:pt x="397854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960011" y="4619678"/>
            <a:ext cx="757320" cy="784418"/>
          </a:xfrm>
          <a:custGeom>
            <a:avLst/>
            <a:gdLst/>
            <a:ahLst/>
            <a:cxnLst/>
            <a:rect r="r" b="b" t="t" l="l"/>
            <a:pathLst>
              <a:path h="784418" w="757320">
                <a:moveTo>
                  <a:pt x="0" y="0"/>
                </a:moveTo>
                <a:lnTo>
                  <a:pt x="757320" y="0"/>
                </a:lnTo>
                <a:lnTo>
                  <a:pt x="757320" y="784417"/>
                </a:lnTo>
                <a:lnTo>
                  <a:pt x="0" y="78441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5565202" y="3960289"/>
            <a:ext cx="7157596" cy="1826512"/>
          </a:xfrm>
          <a:prstGeom prst="rect">
            <a:avLst/>
          </a:prstGeom>
        </p:spPr>
        <p:txBody>
          <a:bodyPr anchor="t" rtlCol="false" tIns="0" lIns="0" bIns="0" rIns="0">
            <a:spAutoFit/>
          </a:bodyPr>
          <a:lstStyle/>
          <a:p>
            <a:pPr algn="ctr">
              <a:lnSpc>
                <a:spcPts val="14826"/>
              </a:lnSpc>
            </a:pPr>
            <a:r>
              <a:rPr lang="en-US" b="true" sz="10590">
                <a:solidFill>
                  <a:srgbClr val="256158"/>
                </a:solidFill>
                <a:latin typeface="Asap Condensed Bold"/>
                <a:ea typeface="Asap Condensed Bold"/>
                <a:cs typeface="Asap Condensed Bold"/>
                <a:sym typeface="Asap Condens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DAHPwu10fVE</dc:identifier>
  <dcterms:modified xsi:type="dcterms:W3CDTF">2011-08-01T06:04:30Z</dcterms:modified>
  <cp:revision>1</cp:revision>
  <dc:title>Green and Gold Vintage History of Islam in China Group Project Presentation</dc:title>
</cp:coreProperties>
</file>